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3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70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A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297680"/>
            <a:ext cx="12191695" cy="73152"/>
          </a:xfrm>
          <a:prstGeom prst="rect">
            <a:avLst/>
          </a:prstGeom>
          <a:solidFill>
            <a:srgbClr val="E8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10362895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Calibri"/>
              </a:rPr>
              <a:t>ATmega32 EEPROM-Based Data Logging</a:t>
            </a:r>
          </a:p>
          <a:p>
            <a:pPr algn="ctr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Calibri"/>
              </a:rPr>
              <a:t>and Configuration Storage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46120"/>
            <a:ext cx="103628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 i="1">
                <a:solidFill>
                  <a:srgbClr val="CFDDF2"/>
                </a:solidFill>
                <a:latin typeface="Calibri"/>
              </a:rPr>
              <a:t>Internal EEPROM Read/Write Operation on the ATmega32 Microcontroller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3628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FFFFFF"/>
                </a:solidFill>
                <a:latin typeface="Calibri"/>
              </a:rPr>
              <a:t>Group Project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440680"/>
            <a:ext cx="10362895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 dirty="0">
                <a:solidFill>
                  <a:srgbClr val="CFDDF2"/>
                </a:solidFill>
                <a:latin typeface="Calibri"/>
              </a:rPr>
              <a:t>Course : </a:t>
            </a:r>
            <a:r>
              <a:rPr lang="en-US" sz="1400" dirty="0">
                <a:solidFill>
                  <a:srgbClr val="CFDDF2"/>
                </a:solidFill>
                <a:latin typeface="Calibri"/>
              </a:rPr>
              <a:t>CT 321 </a:t>
            </a:r>
            <a:endParaRPr sz="1400" b="0" i="0" dirty="0">
              <a:solidFill>
                <a:srgbClr val="CFDDF2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16904F5-80D2-1DCC-BA8F-1AA2FA3B2499}"/>
              </a:ext>
            </a:extLst>
          </p:cNvPr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7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3CE062-7ED9-C3E9-D803-4378A13C47BD}"/>
              </a:ext>
            </a:extLst>
          </p:cNvPr>
          <p:cNvSpPr txBox="1"/>
          <p:nvPr/>
        </p:nvSpPr>
        <p:spPr>
          <a:xfrm>
            <a:off x="502920" y="152769"/>
            <a:ext cx="11185855" cy="5539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000" b="1" i="0" dirty="0">
                <a:solidFill>
                  <a:srgbClr val="FFFFFF"/>
                </a:solidFill>
                <a:latin typeface="Calibri"/>
              </a:rPr>
              <a:t>Group Members</a:t>
            </a:r>
            <a:endParaRPr sz="3000" b="1" i="0" dirty="0">
              <a:solidFill>
                <a:srgbClr val="FFFFFF"/>
              </a:solidFill>
              <a:latin typeface="Calibri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1A50BFD-1B65-19C7-DAEF-4DDAB62FCE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9178241"/>
              </p:ext>
            </p:extLst>
          </p:nvPr>
        </p:nvGraphicFramePr>
        <p:xfrm>
          <a:off x="1050413" y="1842045"/>
          <a:ext cx="9914194" cy="3173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57097">
                  <a:extLst>
                    <a:ext uri="{9D8B030D-6E8A-4147-A177-3AD203B41FA5}">
                      <a16:colId xmlns:a16="http://schemas.microsoft.com/office/drawing/2014/main" val="1264419085"/>
                    </a:ext>
                  </a:extLst>
                </a:gridCol>
                <a:gridCol w="4957097">
                  <a:extLst>
                    <a:ext uri="{9D8B030D-6E8A-4147-A177-3AD203B41FA5}">
                      <a16:colId xmlns:a16="http://schemas.microsoft.com/office/drawing/2014/main" val="3263251872"/>
                    </a:ext>
                  </a:extLst>
                </a:gridCol>
              </a:tblGrid>
              <a:tr h="634782">
                <a:tc>
                  <a:txBody>
                    <a:bodyPr/>
                    <a:lstStyle/>
                    <a:p>
                      <a:r>
                        <a:rPr lang="en-US" dirty="0">
                          <a:latin typeface="+mj-lt"/>
                        </a:rPr>
                        <a:t>Students Name</a:t>
                      </a:r>
                      <a:endParaRPr lang="en-TZ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+mj-lt"/>
                        </a:rPr>
                        <a:t>Registration Numbers</a:t>
                      </a:r>
                      <a:endParaRPr lang="en-TZ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9188496"/>
                  </a:ext>
                </a:extLst>
              </a:tr>
              <a:tr h="634782">
                <a:tc>
                  <a:txBody>
                    <a:bodyPr/>
                    <a:lstStyle/>
                    <a:p>
                      <a:r>
                        <a:rPr lang="en-US" dirty="0">
                          <a:latin typeface="+mj-lt"/>
                        </a:rPr>
                        <a:t>SALIMA ABDI MFAUME</a:t>
                      </a:r>
                      <a:endParaRPr lang="en-TZ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j-lt"/>
                        </a:rPr>
                        <a:t>T23-03-09616</a:t>
                      </a:r>
                      <a:endParaRPr lang="en-TZ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0393824"/>
                  </a:ext>
                </a:extLst>
              </a:tr>
              <a:tr h="634782">
                <a:tc>
                  <a:txBody>
                    <a:bodyPr/>
                    <a:lstStyle/>
                    <a:p>
                      <a:r>
                        <a:rPr lang="en-US" dirty="0">
                          <a:latin typeface="+mj-lt"/>
                        </a:rPr>
                        <a:t>EDNA SAMWEL DIDAS</a:t>
                      </a:r>
                      <a:endParaRPr lang="en-TZ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j-lt"/>
                        </a:rPr>
                        <a:t>T23-03-09544</a:t>
                      </a:r>
                      <a:endParaRPr lang="en-TZ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2498322"/>
                  </a:ext>
                </a:extLst>
              </a:tr>
              <a:tr h="634782">
                <a:tc>
                  <a:txBody>
                    <a:bodyPr/>
                    <a:lstStyle/>
                    <a:p>
                      <a:r>
                        <a:rPr lang="en-US" dirty="0">
                          <a:latin typeface="+mj-lt"/>
                        </a:rPr>
                        <a:t>DENIS RICHARD SOWANI</a:t>
                      </a:r>
                      <a:endParaRPr lang="en-TZ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j-lt"/>
                        </a:rPr>
                        <a:t>T23-03-12706</a:t>
                      </a:r>
                      <a:endParaRPr lang="en-TZ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1479137"/>
                  </a:ext>
                </a:extLst>
              </a:tr>
              <a:tr h="634782">
                <a:tc>
                  <a:txBody>
                    <a:bodyPr/>
                    <a:lstStyle/>
                    <a:p>
                      <a:r>
                        <a:rPr lang="en-US" dirty="0">
                          <a:latin typeface="+mj-lt"/>
                        </a:rPr>
                        <a:t>KARIMU JOSEPH MKIYA </a:t>
                      </a:r>
                      <a:endParaRPr lang="en-TZ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j-lt"/>
                        </a:rPr>
                        <a:t>T23-03-15224</a:t>
                      </a:r>
                      <a:endParaRPr lang="en-TZ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7963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07301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7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 dirty="0">
                <a:solidFill>
                  <a:srgbClr val="FFFFFF"/>
                </a:solidFill>
                <a:latin typeface="Calibri"/>
              </a:rPr>
              <a:t>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463040" cy="54864"/>
          </a:xfrm>
          <a:prstGeom prst="rect">
            <a:avLst/>
          </a:prstGeom>
          <a:solidFill>
            <a:srgbClr val="E8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dirty="0">
                <a:solidFill>
                  <a:srgbClr val="222222"/>
                </a:solidFill>
                <a:latin typeface="Calibri"/>
              </a:rPr>
              <a:t>●  Embedded systems often need to remember information even after power is switched OFF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dirty="0">
                <a:solidFill>
                  <a:srgbClr val="222222"/>
                </a:solidFill>
                <a:latin typeface="Calibri"/>
              </a:rPr>
              <a:t>●  Examples: saved threshold values, calibration settings, user preferences, event counts, alarm limits, configuration data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dirty="0">
                <a:solidFill>
                  <a:srgbClr val="222222"/>
                </a:solidFill>
                <a:latin typeface="Calibri"/>
              </a:rPr>
              <a:t>●  Ordinary RAM loses its contents when power is removed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dirty="0">
                <a:solidFill>
                  <a:srgbClr val="222222"/>
                </a:solidFill>
                <a:latin typeface="Calibri"/>
              </a:rPr>
              <a:t>●  The ATmega32's internal EEPROM can retain stored data without external power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dirty="0">
                <a:solidFill>
                  <a:srgbClr val="222222"/>
                </a:solidFill>
                <a:latin typeface="Calibri"/>
              </a:rPr>
              <a:t>●  This project demonstrates EEPROM read/write operation through a practical data logging and configuration storage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7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Project Objective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463040" cy="54864"/>
          </a:xfrm>
          <a:prstGeom prst="rect">
            <a:avLst/>
          </a:prstGeom>
          <a:solidFill>
            <a:srgbClr val="E8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100">
                <a:solidFill>
                  <a:srgbClr val="222222"/>
                </a:solidFill>
                <a:latin typeface="Calibri"/>
              </a:rPr>
              <a:t>●  Design and implement an EEPROM-based data logging and configuration storage system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100">
                <a:solidFill>
                  <a:srgbClr val="222222"/>
                </a:solidFill>
                <a:latin typeface="Calibri"/>
              </a:rPr>
              <a:t>●  Use the ATmega32 internal EEPROM, push buttons, LEDs, buzzer, and an LCD display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100">
                <a:solidFill>
                  <a:srgbClr val="222222"/>
                </a:solidFill>
                <a:latin typeface="Calibri"/>
              </a:rPr>
              <a:t>●  Allow the user to increase, decrease, save, read, and clear a stored value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100">
                <a:solidFill>
                  <a:srgbClr val="222222"/>
                </a:solidFill>
                <a:latin typeface="Calibri"/>
              </a:rPr>
              <a:t>●  Ensure the stored value remains available after reset or power cycling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394960"/>
            <a:ext cx="1091153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173A66"/>
                </a:solidFill>
                <a:latin typeface="Calibri"/>
              </a:rPr>
              <a:t>User Value  -&gt;  EEPROM Write  -&gt;  Power-Off Retention  -&gt;  EEPROM Read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7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Expected System Operation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463040" cy="54864"/>
          </a:xfrm>
          <a:prstGeom prst="rect">
            <a:avLst/>
          </a:prstGeom>
          <a:solidFill>
            <a:srgbClr val="E8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417320"/>
          <a:ext cx="11185854" cy="507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634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224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38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Input / User Action</a:t>
                      </a:r>
                    </a:p>
                  </a:txBody>
                  <a:tcPr>
                    <a:solidFill>
                      <a:srgbClr val="173A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Expected Output</a:t>
                      </a:r>
                    </a:p>
                  </a:txBody>
                  <a:tcPr>
                    <a:solidFill>
                      <a:srgbClr val="173A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</a:rPr>
                        <a:t>System powered 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</a:rPr>
                        <a:t>Last saved value is loaded from EEPROM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</a:rPr>
                        <a:t>Increment button pressed</a:t>
                      </a:r>
                    </a:p>
                  </a:txBody>
                  <a:tcPr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</a:rPr>
                        <a:t>Current value increases</a:t>
                      </a:r>
                    </a:p>
                  </a:txBody>
                  <a:tcPr anchor="ctr">
                    <a:solidFill>
                      <a:srgbClr val="EA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</a:rPr>
                        <a:t>Decrement button pressed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</a:rPr>
                        <a:t>Current value decreases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</a:rPr>
                        <a:t>Save button pressed</a:t>
                      </a:r>
                    </a:p>
                  </a:txBody>
                  <a:tcPr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</a:rPr>
                        <a:t>Current value is written to EEPROM</a:t>
                      </a:r>
                    </a:p>
                  </a:txBody>
                  <a:tcPr anchor="ctr">
                    <a:solidFill>
                      <a:srgbClr val="EA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</a:rPr>
                        <a:t>Read button pressed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</a:rPr>
                        <a:t>Stored value is displayed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</a:rPr>
                        <a:t>Clear button pressed</a:t>
                      </a:r>
                    </a:p>
                  </a:txBody>
                  <a:tcPr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</a:rPr>
                        <a:t>EEPROM value is reset to default</a:t>
                      </a:r>
                    </a:p>
                  </a:txBody>
                  <a:tcPr anchor="ctr">
                    <a:solidFill>
                      <a:srgbClr val="EA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</a:rPr>
                        <a:t>Reset button pressed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</a:rPr>
                        <a:t>System restarts and reloads stored value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</a:rPr>
                        <a:t>Power switched OFF then ON</a:t>
                      </a:r>
                    </a:p>
                  </a:txBody>
                  <a:tcPr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</a:rPr>
                        <a:t>Last saved value is recovered</a:t>
                      </a:r>
                    </a:p>
                  </a:txBody>
                  <a:tcPr anchor="ctr">
                    <a:solidFill>
                      <a:srgbClr val="EA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7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Main Hardware Components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463040" cy="54864"/>
          </a:xfrm>
          <a:prstGeom prst="rect">
            <a:avLst/>
          </a:prstGeom>
          <a:solidFill>
            <a:srgbClr val="E8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417320"/>
          <a:ext cx="11185854" cy="507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743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82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132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7492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Component</a:t>
                      </a:r>
                    </a:p>
                  </a:txBody>
                  <a:tcPr>
                    <a:solidFill>
                      <a:srgbClr val="173A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Qty</a:t>
                      </a:r>
                    </a:p>
                  </a:txBody>
                  <a:tcPr>
                    <a:solidFill>
                      <a:srgbClr val="173A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Purpose</a:t>
                      </a:r>
                    </a:p>
                  </a:txBody>
                  <a:tcPr>
                    <a:solidFill>
                      <a:srgbClr val="173A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749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ATmega32 microcontroller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Main controller and internal EEPROM device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749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LCD module (16x2 HD44780)</a:t>
                      </a:r>
                    </a:p>
                  </a:txBody>
                  <a:tcPr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Displays current and stored values</a:t>
                      </a:r>
                    </a:p>
                  </a:txBody>
                  <a:tcPr anchor="ctr">
                    <a:solidFill>
                      <a:srgbClr val="EA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749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Push buttons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Increment, decrement, save, read, clear + reset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749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LEDs</a:t>
                      </a:r>
                    </a:p>
                  </a:txBody>
                  <a:tcPr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2</a:t>
                      </a:r>
                    </a:p>
                  </a:txBody>
                  <a:tcPr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Save and error/status indication</a:t>
                      </a:r>
                    </a:p>
                  </a:txBody>
                  <a:tcPr anchor="ctr">
                    <a:solidFill>
                      <a:srgbClr val="EA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749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Current-limiting resistors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LED protection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749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Buzzer + NPN driver transistor</a:t>
                      </a:r>
                    </a:p>
                  </a:txBody>
                  <a:tcPr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Save confirmation / error alert</a:t>
                      </a:r>
                    </a:p>
                  </a:txBody>
                  <a:tcPr anchor="ctr">
                    <a:solidFill>
                      <a:srgbClr val="EA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749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Reset push button + pull-up resistor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Manual microcontroller reset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749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Crystal oscillator + capacitors</a:t>
                      </a:r>
                    </a:p>
                  </a:txBody>
                  <a:tcPr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8 MHz clock source</a:t>
                      </a:r>
                    </a:p>
                  </a:txBody>
                  <a:tcPr anchor="ctr">
                    <a:solidFill>
                      <a:srgbClr val="EA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0749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Power supply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5 V regulated supply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7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ATmega32 Pin Mapping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463040" cy="54864"/>
          </a:xfrm>
          <a:prstGeom prst="rect">
            <a:avLst/>
          </a:prstGeom>
          <a:solidFill>
            <a:srgbClr val="E8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417320"/>
          <a:ext cx="11185853" cy="507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049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6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844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38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Pin / Resource</a:t>
                      </a:r>
                    </a:p>
                  </a:txBody>
                  <a:tcPr>
                    <a:solidFill>
                      <a:srgbClr val="173A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Function</a:t>
                      </a:r>
                    </a:p>
                  </a:txBody>
                  <a:tcPr>
                    <a:solidFill>
                      <a:srgbClr val="173A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Connected Device</a:t>
                      </a:r>
                    </a:p>
                  </a:txBody>
                  <a:tcPr>
                    <a:solidFill>
                      <a:srgbClr val="173A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</a:rPr>
                        <a:t>Internal EEPROM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</a:rPr>
                        <a:t>Non-volatile storage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</a:rPr>
                        <a:t>Stores saved value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</a:rPr>
                        <a:t>PA0 - PA4</a:t>
                      </a:r>
                    </a:p>
                  </a:txBody>
                  <a:tcPr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</a:rPr>
                        <a:t>Digital input</a:t>
                      </a:r>
                    </a:p>
                  </a:txBody>
                  <a:tcPr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</a:rPr>
                        <a:t>INC / DEC / SAVE / READ / CLEAR buttons</a:t>
                      </a:r>
                    </a:p>
                  </a:txBody>
                  <a:tcPr anchor="ctr">
                    <a:solidFill>
                      <a:srgbClr val="EA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</a:rPr>
                        <a:t>PB0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</a:rPr>
                        <a:t>Digital output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</a:rPr>
                        <a:t>SAVE / status LED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</a:rPr>
                        <a:t>PB1</a:t>
                      </a:r>
                    </a:p>
                  </a:txBody>
                  <a:tcPr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</a:rPr>
                        <a:t>Digital output</a:t>
                      </a:r>
                    </a:p>
                  </a:txBody>
                  <a:tcPr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</a:rPr>
                        <a:t>ERROR LED</a:t>
                      </a:r>
                    </a:p>
                  </a:txBody>
                  <a:tcPr anchor="ctr">
                    <a:solidFill>
                      <a:srgbClr val="EA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</a:rPr>
                        <a:t>PB2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</a:rPr>
                        <a:t>Digital output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</a:rPr>
                        <a:t>Buzzer (via NPN driver transistor)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</a:rPr>
                        <a:t>PD4 / PD5 / PD6</a:t>
                      </a:r>
                    </a:p>
                  </a:txBody>
                  <a:tcPr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</a:rPr>
                        <a:t>Digital output</a:t>
                      </a:r>
                    </a:p>
                  </a:txBody>
                  <a:tcPr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</a:rPr>
                        <a:t>LCD RS / RW / EN</a:t>
                      </a:r>
                    </a:p>
                  </a:txBody>
                  <a:tcPr anchor="ctr">
                    <a:solidFill>
                      <a:srgbClr val="EA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</a:rPr>
                        <a:t>PC4 - PC7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</a:rPr>
                        <a:t>Digital output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</a:rPr>
                        <a:t>LCD D4 - D7 (4-bit mode)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</a:rPr>
                        <a:t>RESET pin</a:t>
                      </a:r>
                    </a:p>
                  </a:txBody>
                  <a:tcPr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</a:rPr>
                        <a:t>Reset input</a:t>
                      </a:r>
                    </a:p>
                  </a:txBody>
                  <a:tcPr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</a:rPr>
                        <a:t>Reset push button + 10 kΩ pull-up</a:t>
                      </a:r>
                    </a:p>
                  </a:txBody>
                  <a:tcPr anchor="ctr">
                    <a:solidFill>
                      <a:srgbClr val="EA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7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System Block Diagram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463040" cy="54864"/>
          </a:xfrm>
          <a:prstGeom prst="rect">
            <a:avLst/>
          </a:prstGeom>
          <a:solidFill>
            <a:srgbClr val="E8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block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5740" y="1371600"/>
            <a:ext cx="814021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7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Firmware Flowchart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463040" cy="54864"/>
          </a:xfrm>
          <a:prstGeom prst="rect">
            <a:avLst/>
          </a:prstGeom>
          <a:solidFill>
            <a:srgbClr val="E8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8440" y="1371600"/>
            <a:ext cx="6874815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7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EEPROM Address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15568"/>
            <a:ext cx="1118585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666666"/>
                </a:solidFill>
                <a:latin typeface="Calibri"/>
              </a:rPr>
              <a:t>A magic byte distinguishes a blank (erased) EEPROM, which reads as 0xFF, from a genuinely saved value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463040" cy="54864"/>
          </a:xfrm>
          <a:prstGeom prst="rect">
            <a:avLst/>
          </a:prstGeom>
          <a:solidFill>
            <a:srgbClr val="E8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417320"/>
          <a:ext cx="11185855" cy="507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71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71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115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9164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Address</a:t>
                      </a:r>
                    </a:p>
                  </a:txBody>
                  <a:tcPr>
                    <a:solidFill>
                      <a:srgbClr val="173A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Size</a:t>
                      </a:r>
                    </a:p>
                  </a:txBody>
                  <a:tcPr>
                    <a:solidFill>
                      <a:srgbClr val="173A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Content</a:t>
                      </a:r>
                    </a:p>
                  </a:txBody>
                  <a:tcPr>
                    <a:solidFill>
                      <a:srgbClr val="173A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164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22222"/>
                          </a:solidFill>
                        </a:rPr>
                        <a:t>0x00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22222"/>
                          </a:solidFill>
                        </a:rPr>
                        <a:t>1 byte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22222"/>
                          </a:solidFill>
                        </a:rPr>
                        <a:t>Magic / init byte (0xAA once initialized)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9164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22222"/>
                          </a:solidFill>
                        </a:rPr>
                        <a:t>0x01</a:t>
                      </a:r>
                    </a:p>
                  </a:txBody>
                  <a:tcPr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22222"/>
                          </a:solidFill>
                        </a:rPr>
                        <a:t>1 byte</a:t>
                      </a:r>
                    </a:p>
                  </a:txBody>
                  <a:tcPr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22222"/>
                          </a:solidFill>
                        </a:rPr>
                        <a:t>Saved configuration value (0 - 255)</a:t>
                      </a:r>
                    </a:p>
                  </a:txBody>
                  <a:tcPr anchor="ctr">
                    <a:solidFill>
                      <a:srgbClr val="EA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7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KiCad Schematic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15568"/>
            <a:ext cx="1118585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666666"/>
                </a:solidFill>
                <a:latin typeface="Calibri"/>
              </a:rPr>
              <a:t>0 ERC violations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463040" cy="54864"/>
          </a:xfrm>
          <a:prstGeom prst="rect">
            <a:avLst/>
          </a:prstGeom>
          <a:solidFill>
            <a:srgbClr val="E8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schematic_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7929" y="1371600"/>
            <a:ext cx="7315836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7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KiCad PCB Layout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15568"/>
            <a:ext cx="1118585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666666"/>
                </a:solidFill>
                <a:latin typeface="Calibri"/>
              </a:rPr>
              <a:t>0 DRC violations, 0 unconnected nets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463040" cy="54864"/>
          </a:xfrm>
          <a:prstGeom prst="rect">
            <a:avLst/>
          </a:prstGeom>
          <a:solidFill>
            <a:srgbClr val="E8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pcb_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5122" y="1371600"/>
            <a:ext cx="6321451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7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SimulIDE Simulation - Startup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15568"/>
            <a:ext cx="1118585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666666"/>
                </a:solidFill>
                <a:latin typeface="Calibri"/>
              </a:rPr>
              <a:t>System loads the last saved value from EEPROM on power-up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463040" cy="54864"/>
          </a:xfrm>
          <a:prstGeom prst="rect">
            <a:avLst/>
          </a:prstGeom>
          <a:solidFill>
            <a:srgbClr val="E8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01_start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0260" y="1371600"/>
            <a:ext cx="5671175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7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SimulIDE Simulation - Save &amp; Read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463040" cy="54864"/>
          </a:xfrm>
          <a:prstGeom prst="rect">
            <a:avLst/>
          </a:prstGeom>
          <a:solidFill>
            <a:srgbClr val="E8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04_sa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30" y="1463040"/>
            <a:ext cx="4355700" cy="4206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806440"/>
            <a:ext cx="5394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1">
                <a:solidFill>
                  <a:srgbClr val="666666"/>
                </a:solidFill>
                <a:latin typeface="Calibri"/>
              </a:rPr>
              <a:t>SAVE: current value written to EEPROM</a:t>
            </a:r>
          </a:p>
        </p:txBody>
      </p:sp>
      <p:pic>
        <p:nvPicPr>
          <p:cNvPr id="7" name="Picture 6" descr="05_re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4477" y="1463040"/>
            <a:ext cx="4324725" cy="4206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09360" y="5806440"/>
            <a:ext cx="5394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1">
                <a:solidFill>
                  <a:srgbClr val="666666"/>
                </a:solidFill>
                <a:latin typeface="Calibri"/>
              </a:rPr>
              <a:t>READ: stored value re-read from EEPROM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7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Test Results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15568"/>
            <a:ext cx="1118585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666666"/>
                </a:solidFill>
                <a:latin typeface="Calibri"/>
              </a:rPr>
              <a:t>All 8 functional test cases passed in SimulIDE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463040" cy="54864"/>
          </a:xfrm>
          <a:prstGeom prst="rect">
            <a:avLst/>
          </a:prstGeom>
          <a:solidFill>
            <a:srgbClr val="E8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417320"/>
          <a:ext cx="11185854" cy="507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059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799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38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Test Case</a:t>
                      </a:r>
                    </a:p>
                  </a:txBody>
                  <a:tcPr>
                    <a:solidFill>
                      <a:srgbClr val="173A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Result</a:t>
                      </a:r>
                    </a:p>
                  </a:txBody>
                  <a:tcPr>
                    <a:solidFill>
                      <a:srgbClr val="173A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</a:rPr>
                        <a:t>Startup (first power-up)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</a:rPr>
                        <a:t>PASS - CURRENT: 000, SAVED: 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</a:rPr>
                        <a:t>Increment</a:t>
                      </a:r>
                    </a:p>
                  </a:txBody>
                  <a:tcPr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</a:rPr>
                        <a:t>PASS - clamps correctly at 255</a:t>
                      </a:r>
                    </a:p>
                  </a:txBody>
                  <a:tcPr anchor="ctr">
                    <a:solidFill>
                      <a:srgbClr val="EA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</a:rPr>
                        <a:t>Decrement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</a:rPr>
                        <a:t>PASS - clamps correctly at 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</a:rPr>
                        <a:t>Save</a:t>
                      </a:r>
                    </a:p>
                  </a:txBody>
                  <a:tcPr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</a:rPr>
                        <a:t>PASS - SAVED updates to match CURRENT</a:t>
                      </a:r>
                    </a:p>
                  </a:txBody>
                  <a:tcPr anchor="ctr">
                    <a:solidFill>
                      <a:srgbClr val="EA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</a:rPr>
                        <a:t>Read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</a:rPr>
                        <a:t>PASS - SAVED re-read independently from EEPROM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</a:rPr>
                        <a:t>Clear</a:t>
                      </a:r>
                    </a:p>
                  </a:txBody>
                  <a:tcPr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</a:rPr>
                        <a:t>PASS - both values reset to 000</a:t>
                      </a:r>
                    </a:p>
                  </a:txBody>
                  <a:tcPr anchor="ctr">
                    <a:solidFill>
                      <a:srgbClr val="EA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</a:rPr>
                        <a:t>Reset recovery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</a:rPr>
                        <a:t>PASS - last saved value reloaded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</a:rPr>
                        <a:t>Power-cycle recovery</a:t>
                      </a:r>
                    </a:p>
                  </a:txBody>
                  <a:tcPr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</a:rPr>
                        <a:t>PASS - last saved value recovered</a:t>
                      </a:r>
                    </a:p>
                  </a:txBody>
                  <a:tcPr anchor="ctr">
                    <a:solidFill>
                      <a:srgbClr val="EA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7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Extension Task (Optional)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463040" cy="54864"/>
          </a:xfrm>
          <a:prstGeom prst="rect">
            <a:avLst/>
          </a:prstGeom>
          <a:solidFill>
            <a:srgbClr val="E8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100">
                <a:solidFill>
                  <a:srgbClr val="222222"/>
                </a:solidFill>
                <a:latin typeface="Calibri"/>
              </a:rPr>
              <a:t>●  Store multiple records instead of a single value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100">
                <a:solidFill>
                  <a:srgbClr val="222222"/>
                </a:solidFill>
                <a:latin typeface="Calibri"/>
              </a:rPr>
              <a:t>●  Example: last five event-count values or threshold settings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100">
                <a:solidFill>
                  <a:srgbClr val="222222"/>
                </a:solidFill>
                <a:latin typeface="Calibri"/>
              </a:rPr>
              <a:t>●  User scrolls through stored records using buttons or serial commands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100">
                <a:solidFill>
                  <a:srgbClr val="222222"/>
                </a:solidFill>
                <a:latin typeface="Calibri"/>
              </a:rPr>
              <a:t>●  Requires careful EEPROM address management and simple record indexing in software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7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463040" cy="54864"/>
          </a:xfrm>
          <a:prstGeom prst="rect">
            <a:avLst/>
          </a:prstGeom>
          <a:solidFill>
            <a:srgbClr val="E8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●  Successfully implemented EEPROM read/write operations on the ATmega32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●  Designed and verified a complete schematic and PCB in KiCad (0 ERC/DRC violations)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●  Built and tested firmware controlling buttons, LCD, LEDs, and buzzer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●  Validated complete system behavior in SimulIDE - all test cases passed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●  Demonstrated reliable data retention across reset and power cycling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A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743200"/>
            <a:ext cx="103628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755</Words>
  <Application>Microsoft Office PowerPoint</Application>
  <PresentationFormat>Widescreen</PresentationFormat>
  <Paragraphs>160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Denis Sowani</cp:lastModifiedBy>
  <cp:revision>4</cp:revision>
  <dcterms:created xsi:type="dcterms:W3CDTF">2013-01-27T09:14:16Z</dcterms:created>
  <dcterms:modified xsi:type="dcterms:W3CDTF">2026-07-01T09:31:56Z</dcterms:modified>
  <cp:category/>
</cp:coreProperties>
</file>